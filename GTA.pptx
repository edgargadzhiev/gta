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9144000" cy="51435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/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Титульный слайд: название команды, состав, направление и группа.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1623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502920" y="54864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35C79A"/>
          </a:solidFill>
          <a:ln w="12700">
            <a:solidFill>
              <a:srgbClr val="35C7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 bwMode="auto">
          <a:xfrm>
            <a:off x="50292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GTA</a:t>
            </a:r>
            <a:endParaRPr lang="en-US" sz="3200"/>
          </a:p>
        </p:txBody>
      </p:sp>
      <p:sp>
        <p:nvSpPr>
          <p:cNvPr id="4" name="Text 2"/>
          <p:cNvSpPr txBox="1"/>
          <p:nvPr/>
        </p:nvSpPr>
        <p:spPr bwMode="auto">
          <a:xfrm>
            <a:off x="2148840" y="65836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GTA</a:t>
            </a:r>
            <a:endParaRPr lang="en-US" sz="4000"/>
          </a:p>
        </p:txBody>
      </p:sp>
      <p:sp>
        <p:nvSpPr>
          <p:cNvPr id="5" name="Text 3"/>
          <p:cNvSpPr txBox="1"/>
          <p:nvPr/>
        </p:nvSpPr>
        <p:spPr bwMode="auto">
          <a:xfrm>
            <a:off x="2148840" y="135331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35C79A"/>
                </a:solidFill>
                <a:latin typeface="Calibri"/>
                <a:ea typeface="Calibri"/>
                <a:cs typeface="Calibri"/>
              </a:rPr>
              <a:t>Учебный IT-проект: разработка, управление, дизайн и тестирование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 bwMode="auto">
          <a:xfrm>
            <a:off x="502920" y="2286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 bwMode="auto">
          <a:xfrm flipH="0" flipV="0">
            <a:off x="649224" y="2414015"/>
            <a:ext cx="20421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ru-R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Алалыкина</a:t>
            </a:r>
            <a:endParaRPr lang="ru-RU"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ru-R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Елизавета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 bwMode="auto">
          <a:xfrm flipH="0" flipV="0">
            <a:off x="649224" y="2885310"/>
            <a:ext cx="1645920" cy="34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ru-RU" sz="1100">
                <a:solidFill>
                  <a:srgbClr val="35C79A"/>
                </a:solidFill>
                <a:latin typeface="Calibri"/>
                <a:ea typeface="Calibri"/>
                <a:cs typeface="Calibri"/>
              </a:rPr>
              <a:t>Руководитель команды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 bwMode="auto">
          <a:xfrm>
            <a:off x="2606040" y="2286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 bwMode="auto">
          <a:xfrm>
            <a:off x="2752343" y="2414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ru-R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Гаджиев Эдгар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 bwMode="auto">
          <a:xfrm flipH="0" flipV="0">
            <a:off x="2752343" y="2885310"/>
            <a:ext cx="1645920" cy="34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ru-RU" sz="1100">
                <a:solidFill>
                  <a:srgbClr val="35C79A"/>
                </a:solidFill>
                <a:latin typeface="Calibri"/>
                <a:ea typeface="Calibri"/>
                <a:cs typeface="Calibri"/>
              </a:rPr>
              <a:t>разработчик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 bwMode="auto">
          <a:xfrm>
            <a:off x="4709160" y="2286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 bwMode="auto">
          <a:xfrm>
            <a:off x="4855464" y="2414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Полина ______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 bwMode="auto">
          <a:xfrm flipH="0" flipV="0">
            <a:off x="4855463" y="2885310"/>
            <a:ext cx="1645920" cy="34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5C79A"/>
                </a:solidFill>
                <a:latin typeface="Calibri"/>
                <a:ea typeface="Calibri"/>
                <a:cs typeface="Calibri"/>
              </a:rPr>
              <a:t>дизайнер и продвижение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 bwMode="auto">
          <a:xfrm>
            <a:off x="6812280" y="228600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 bwMode="auto">
          <a:xfrm>
            <a:off x="6958584" y="2414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Дарья ______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 bwMode="auto">
          <a:xfrm flipH="0" flipV="0">
            <a:off x="6958584" y="2885310"/>
            <a:ext cx="1645920" cy="34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5C79A"/>
                </a:solidFill>
                <a:latin typeface="Calibri"/>
                <a:ea typeface="Calibri"/>
                <a:cs typeface="Calibri"/>
              </a:rPr>
              <a:t>тестировщик и аналитик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 bwMode="auto">
          <a:xfrm>
            <a:off x="50292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C6CEDD"/>
                </a:solidFill>
                <a:latin typeface="Calibri"/>
                <a:ea typeface="Calibri"/>
                <a:cs typeface="Calibri"/>
              </a:rPr>
              <a:t>ТюмГУ · Институт математики и компьютерных наук</a:t>
            </a:r>
            <a:endParaRPr lang="en-US" sz="1200"/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C6CEDD"/>
                </a:solidFill>
                <a:latin typeface="Calibri"/>
                <a:ea typeface="Calibri"/>
                <a:cs typeface="Calibri"/>
              </a:rPr>
              <a:t>02.03.03 «Математическое обеспечение и администрирование информационных систем», 1 курс</a:t>
            </a:r>
            <a:endParaRPr lang="en-US" sz="1200"/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C6CEDD"/>
                </a:solidFill>
                <a:latin typeface="Calibri"/>
                <a:ea typeface="Calibri"/>
                <a:cs typeface="Calibri"/>
              </a:rPr>
              <a:t>Дисциплина «Профессиональная идентичность и карьера», 2026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Роли в команде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2 / 10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 bwMode="auto">
          <a:xfrm>
            <a:off x="502920" y="1051560"/>
            <a:ext cx="3913632" cy="1463040"/>
          </a:xfrm>
          <a:prstGeom prst="roundRect">
            <a:avLst>
              <a:gd name="adj" fmla="val 375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Shape 3"/>
          <p:cNvSpPr/>
          <p:nvPr/>
        </p:nvSpPr>
        <p:spPr bwMode="auto">
          <a:xfrm>
            <a:off x="704088" y="12527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5C79A"/>
          </a:solidFill>
          <a:ln w="12700">
            <a:solidFill>
              <a:srgbClr val="35C7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 bwMode="auto">
          <a:xfrm>
            <a:off x="70408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1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 bwMode="auto">
          <a:xfrm>
            <a:off x="1216151" y="1234440"/>
            <a:ext cx="3017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Руководитель команды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 bwMode="auto">
          <a:xfrm>
            <a:off x="1216151" y="1527048"/>
            <a:ext cx="301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ru-RU" sz="1200" b="1">
                <a:solidFill>
                  <a:srgbClr val="C0730E"/>
                </a:solidFill>
                <a:latin typeface="Calibri"/>
                <a:ea typeface="Calibri"/>
                <a:cs typeface="Calibri"/>
              </a:rPr>
              <a:t>Лиза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 bwMode="auto">
          <a:xfrm>
            <a:off x="1216151" y="1819656"/>
            <a:ext cx="3017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 b="0" i="0" u="none" strike="noStrike" cap="none" spc="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Роли, задачи, сроки, связь с преподавателем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 bwMode="auto">
          <a:xfrm>
            <a:off x="4727448" y="1051560"/>
            <a:ext cx="3913632" cy="1463040"/>
          </a:xfrm>
          <a:prstGeom prst="roundRect">
            <a:avLst>
              <a:gd name="adj" fmla="val 375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Shape 9"/>
          <p:cNvSpPr/>
          <p:nvPr/>
        </p:nvSpPr>
        <p:spPr bwMode="auto">
          <a:xfrm>
            <a:off x="4928616" y="12527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5C79A"/>
          </a:solidFill>
          <a:ln w="12700">
            <a:solidFill>
              <a:srgbClr val="35C7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 bwMode="auto">
          <a:xfrm>
            <a:off x="492861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2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 bwMode="auto">
          <a:xfrm>
            <a:off x="5440680" y="1234440"/>
            <a:ext cx="3017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ru-RU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Разработчик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 bwMode="auto">
          <a:xfrm>
            <a:off x="5440680" y="1527048"/>
            <a:ext cx="301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0730E"/>
                </a:solidFill>
                <a:latin typeface="Calibri"/>
                <a:ea typeface="Calibri"/>
                <a:cs typeface="Calibri"/>
              </a:rPr>
              <a:t>Лиза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 bwMode="auto">
          <a:xfrm>
            <a:off x="5440680" y="1819656"/>
            <a:ext cx="3017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 b="0" i="0" u="none" strike="noStrike" cap="none" spc="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Frontend и backend, база данных, публикация сайта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 bwMode="auto">
          <a:xfrm>
            <a:off x="502920" y="2743200"/>
            <a:ext cx="3913632" cy="1463040"/>
          </a:xfrm>
          <a:prstGeom prst="roundRect">
            <a:avLst>
              <a:gd name="adj" fmla="val 375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5"/>
          <p:cNvSpPr/>
          <p:nvPr/>
        </p:nvSpPr>
        <p:spPr bwMode="auto">
          <a:xfrm>
            <a:off x="704088" y="29443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5C79A"/>
          </a:solidFill>
          <a:ln w="12700">
            <a:solidFill>
              <a:srgbClr val="35C7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 bwMode="auto">
          <a:xfrm>
            <a:off x="704088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3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 bwMode="auto">
          <a:xfrm>
            <a:off x="1216151" y="2926080"/>
            <a:ext cx="3017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Дизайнер и SMM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 bwMode="auto">
          <a:xfrm>
            <a:off x="1216151" y="3218688"/>
            <a:ext cx="301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0730E"/>
                </a:solidFill>
                <a:latin typeface="Calibri"/>
                <a:ea typeface="Calibri"/>
                <a:cs typeface="Calibri"/>
              </a:rPr>
              <a:t>Полина</a:t>
            </a:r>
            <a:endParaRPr lang="en-US" sz="1200"/>
          </a:p>
        </p:txBody>
      </p:sp>
      <p:sp>
        <p:nvSpPr>
          <p:cNvPr id="21" name="Text 19"/>
          <p:cNvSpPr txBox="1"/>
          <p:nvPr/>
        </p:nvSpPr>
        <p:spPr bwMode="auto">
          <a:xfrm>
            <a:off x="1216151" y="3511296"/>
            <a:ext cx="3017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Макеты, стиль, тексты, соцсети проекта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 bwMode="auto">
          <a:xfrm>
            <a:off x="4727448" y="2743200"/>
            <a:ext cx="3913632" cy="1463040"/>
          </a:xfrm>
          <a:prstGeom prst="roundRect">
            <a:avLst>
              <a:gd name="adj" fmla="val 375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3" name="Shape 21"/>
          <p:cNvSpPr/>
          <p:nvPr/>
        </p:nvSpPr>
        <p:spPr bwMode="auto">
          <a:xfrm>
            <a:off x="4928616" y="29443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5C79A"/>
          </a:solidFill>
          <a:ln w="12700">
            <a:solidFill>
              <a:srgbClr val="35C7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 bwMode="auto">
          <a:xfrm>
            <a:off x="4928616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4</a:t>
            </a:r>
            <a:endParaRPr lang="en-US" sz="1400"/>
          </a:p>
        </p:txBody>
      </p:sp>
      <p:sp>
        <p:nvSpPr>
          <p:cNvPr id="25" name="Text 23"/>
          <p:cNvSpPr txBox="1"/>
          <p:nvPr/>
        </p:nvSpPr>
        <p:spPr bwMode="auto">
          <a:xfrm>
            <a:off x="5440680" y="2926080"/>
            <a:ext cx="3017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Тестировщик и аналитик</a:t>
            </a:r>
            <a:endParaRPr lang="en-US" sz="1400"/>
          </a:p>
        </p:txBody>
      </p:sp>
      <p:sp>
        <p:nvSpPr>
          <p:cNvPr id="26" name="Text 24"/>
          <p:cNvSpPr txBox="1"/>
          <p:nvPr/>
        </p:nvSpPr>
        <p:spPr bwMode="auto">
          <a:xfrm>
            <a:off x="5440680" y="3218688"/>
            <a:ext cx="3017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C0730E"/>
                </a:solidFill>
                <a:latin typeface="Calibri"/>
                <a:ea typeface="Calibri"/>
                <a:cs typeface="Calibri"/>
              </a:rPr>
              <a:t>Даша</a:t>
            </a:r>
            <a:endParaRPr lang="en-US" sz="1200"/>
          </a:p>
        </p:txBody>
      </p:sp>
      <p:sp>
        <p:nvSpPr>
          <p:cNvPr id="27" name="Text 25"/>
          <p:cNvSpPr txBox="1"/>
          <p:nvPr/>
        </p:nvSpPr>
        <p:spPr bwMode="auto">
          <a:xfrm>
            <a:off x="5440680" y="3511296"/>
            <a:ext cx="3017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Требования, тест-кейсы, поиск ошибок</a:t>
            </a:r>
            <a:endParaRPr lang="en-US" sz="1150"/>
          </a:p>
        </p:txBody>
      </p:sp>
      <p:sp>
        <p:nvSpPr>
          <p:cNvPr id="28" name="Text 26"/>
          <p:cNvSpPr txBox="1"/>
          <p:nvPr/>
        </p:nvSpPr>
        <p:spPr bwMode="auto"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У каждой задачи в проекте есть один ответственный — роли не дублируют друг друга.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Руководитель команды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4 / 10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 bwMode="auto">
          <a:xfrm>
            <a:off x="5029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А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л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а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л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ы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к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и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н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а</a:t>
            </a: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700" b="1" i="0" u="none" strike="noStrike" cap="none" spc="0">
                <a:solidFill>
                  <a:srgbClr val="16233A"/>
                </a:solidFill>
                <a:latin typeface="Arial"/>
                <a:ea typeface="Arial"/>
                <a:cs typeface="Arial"/>
              </a:rPr>
              <a:t>Елизавета </a:t>
            </a:r>
            <a:endParaRPr lang="en-US" sz="1700"/>
          </a:p>
        </p:txBody>
      </p:sp>
      <p:sp>
        <p:nvSpPr>
          <p:cNvPr id="5" name="Text 3"/>
          <p:cNvSpPr txBox="1"/>
          <p:nvPr/>
        </p:nvSpPr>
        <p:spPr bwMode="auto">
          <a:xfrm>
            <a:off x="50292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Распределение ролей, планирование, сроки, коммуникация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 bwMode="auto">
          <a:xfrm>
            <a:off x="502920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 bwMode="auto">
          <a:xfrm>
            <a:off x="704088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Hard skills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 bwMode="auto">
          <a:xfrm>
            <a:off x="704088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Планирование задач в таблицах / трекере (уточнить инструмент)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Разбивает большую задачу на шаги и назначает ответственного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Ведёт общий план работ и следит за дедлайнами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 bwMode="auto">
          <a:xfrm>
            <a:off x="3328416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 bwMode="auto">
          <a:xfrm>
            <a:off x="3529584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Soft skills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 bwMode="auto">
          <a:xfrm>
            <a:off x="3529584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Слышит аргументы всех четверых и доводит спор до решения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Не боится напомнить о сроке и спросить статус задачи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Отвечает за результат всей команды, а не только за свою часть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 bwMode="auto">
          <a:xfrm>
            <a:off x="6153912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 bwMode="auto">
          <a:xfrm>
            <a:off x="6355080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Мотивация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 bwMode="auto">
          <a:xfrm>
            <a:off x="6355080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Интересно собрать работу четырёх разных людей в один результат и попробовать себя в роли, которая в IT называется менеджером проекта.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Разработчик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3 / 10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 bwMode="auto">
          <a:xfrm>
            <a:off x="5029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Гаджиев Эдгар</a:t>
            </a:r>
            <a:endParaRPr lang="en-US" sz="1700"/>
          </a:p>
        </p:txBody>
      </p:sp>
      <p:sp>
        <p:nvSpPr>
          <p:cNvPr id="5" name="Text 3"/>
          <p:cNvSpPr txBox="1"/>
          <p:nvPr/>
        </p:nvSpPr>
        <p:spPr bwMode="auto">
          <a:xfrm>
            <a:off x="50292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Frontend, backend, fullstack — вся техническая часть продукта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 bwMode="auto">
          <a:xfrm>
            <a:off x="502920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 bwMode="auto">
          <a:xfrm>
            <a:off x="704088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Hard skills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 bwMode="auto">
          <a:xfrm>
            <a:off x="704088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HTML, CSS, JavaScript, адаптивная вёрстка под телефон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Серверная часть и обработка заявок с сайта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Git и GitHub, публикаци</a:t>
            </a: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я</a:t>
            </a: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 на GitHub Pages и Netlify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ru-RU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Имеется опыт в работе с </a:t>
            </a:r>
            <a:r>
              <a:rPr lang="ru-RU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ИИ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 bwMode="auto">
          <a:xfrm>
            <a:off x="3328416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 bwMode="auto">
          <a:xfrm>
            <a:off x="3529584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Soft skills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 bwMode="auto">
          <a:xfrm>
            <a:off x="3529584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Доводит проект до рабочего состояния, а не до «почти готово»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Переделывает слабые решения вместо того, чтобы их защищать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Объясняет техническую часть понятным языком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 bwMode="auto">
          <a:xfrm>
            <a:off x="6153912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 bwMode="auto">
          <a:xfrm>
            <a:off x="6355080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Мотивация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 bwMode="auto">
          <a:xfrm>
            <a:off x="6355080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Уже делает сайты самостоятельно и хочет получить опыт командной работы: чужие макеты, чужие требования и баг-репорты — то, чего не встретишь в одиночном проекте.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Дизайнер и продвижение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5 / 10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 bwMode="auto">
          <a:xfrm>
            <a:off x="5029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Полина ______</a:t>
            </a:r>
            <a:endParaRPr lang="en-US" sz="1700"/>
          </a:p>
        </p:txBody>
      </p:sp>
      <p:sp>
        <p:nvSpPr>
          <p:cNvPr id="5" name="Text 3"/>
          <p:cNvSpPr txBox="1"/>
          <p:nvPr/>
        </p:nvSpPr>
        <p:spPr bwMode="auto">
          <a:xfrm>
            <a:off x="50292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Макеты, визуальный стиль, тексты, соцсети проекта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 bwMode="auto">
          <a:xfrm>
            <a:off x="502920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 bwMode="auto">
          <a:xfrm>
            <a:off x="704088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Hard skills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 bwMode="auto">
          <a:xfrm>
            <a:off x="704088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Figma / Canva и графические редакторы (уточнить инструменты)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Подбирает шрифты и цвета так, чтобы страницы выглядели как один продукт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Пишет посты и готовит визуал для соцсетей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 bwMode="auto">
          <a:xfrm>
            <a:off x="3328416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 bwMode="auto">
          <a:xfrm>
            <a:off x="3529584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Soft skills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 bwMode="auto">
          <a:xfrm>
            <a:off x="3529584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Придумывает варианты там, где остальные видят один путь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Спокойно принимает правки и переделывает макет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Умеет коротко объяснить проект человеку со стороны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 bwMode="auto">
          <a:xfrm>
            <a:off x="6153912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 bwMode="auto">
          <a:xfrm>
            <a:off x="6355080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Мотивация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 bwMode="auto">
          <a:xfrm>
            <a:off x="6355080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Хочет увидеть свой макет не в файле, а в работающем сайте и собрать первые кейсы для портфолио дизайнера.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Тестировщик и аналитик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6 / 10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 bwMode="auto">
          <a:xfrm>
            <a:off x="5029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Дарья ______</a:t>
            </a:r>
            <a:endParaRPr lang="en-US" sz="1700"/>
          </a:p>
        </p:txBody>
      </p:sp>
      <p:sp>
        <p:nvSpPr>
          <p:cNvPr id="5" name="Text 3"/>
          <p:cNvSpPr txBox="1"/>
          <p:nvPr/>
        </p:nvSpPr>
        <p:spPr bwMode="auto">
          <a:xfrm>
            <a:off x="50292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Требования, тест-кейсы, баг-репорты, работа с данными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 bwMode="auto">
          <a:xfrm>
            <a:off x="502920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 bwMode="auto">
          <a:xfrm>
            <a:off x="704088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Hard skills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 bwMode="auto">
          <a:xfrm>
            <a:off x="704088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Составляет чек-листы и тест-кейсы, описывает ошибки по шагам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Таблицы, DevTools, Postman, SQL (уточнить, что уже пробовали)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Собирает требования к продукту и сверяет с ними результат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 bwMode="auto">
          <a:xfrm>
            <a:off x="3328416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 bwMode="auto">
          <a:xfrm>
            <a:off x="3529584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Soft skills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 bwMode="auto">
          <a:xfrm>
            <a:off x="3529584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Внимательна к деталям, замечает то, что пропустил автор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Любит структурировать информацию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Сообщает об ошибке как о факте, а не как о претензии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 bwMode="auto">
          <a:xfrm>
            <a:off x="6153912" y="16916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 bwMode="auto">
          <a:xfrm>
            <a:off x="6355080" y="183794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Мотивация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 bwMode="auto">
          <a:xfrm>
            <a:off x="6355080" y="2258568"/>
            <a:ext cx="2276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Тестирование — вход в IT без требования коммерческого опыта, и роль позволяет разобраться в продукте целиком, а не в одной его части.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Рынок труда: разработчик (Junior)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7 / 10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 bwMode="auto">
          <a:xfrm>
            <a:off x="502920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 bwMode="auto">
          <a:xfrm>
            <a:off x="704088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Python Developer</a:t>
            </a:r>
            <a:endParaRPr lang="en-US" sz="1250"/>
          </a:p>
        </p:txBody>
      </p:sp>
      <p:sp>
        <p:nvSpPr>
          <p:cNvPr id="6" name="Text 4"/>
          <p:cNvSpPr txBox="1"/>
          <p:nvPr/>
        </p:nvSpPr>
        <p:spPr bwMode="auto">
          <a:xfrm>
            <a:off x="704088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ITK academy · удалённо · Junior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 bwMode="auto">
          <a:xfrm>
            <a:off x="704088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от 75 000 ₽</a:t>
            </a:r>
            <a:endParaRPr lang="en-US" sz="1700"/>
          </a:p>
        </p:txBody>
      </p:sp>
      <p:sp>
        <p:nvSpPr>
          <p:cNvPr id="8" name="Text 6"/>
          <p:cNvSpPr txBox="1"/>
          <p:nvPr/>
        </p:nvSpPr>
        <p:spPr bwMode="auto">
          <a:xfrm>
            <a:off x="704088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9" name="Text 7"/>
          <p:cNvSpPr txBox="1"/>
          <p:nvPr/>
        </p:nvSpPr>
        <p:spPr bwMode="auto">
          <a:xfrm>
            <a:off x="704088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Python, ООП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Django, FastAPI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PostgreSQL, SQL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Docker, Git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 bwMode="auto">
          <a:xfrm>
            <a:off x="3328416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 bwMode="auto">
          <a:xfrm>
            <a:off x="3529584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Junior Go Developer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 bwMode="auto">
          <a:xfrm>
            <a:off x="3529584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ITK academy · Казань, удалённо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 bwMode="auto">
          <a:xfrm>
            <a:off x="3529584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75 000 – 125 000 ₽</a:t>
            </a:r>
            <a:endParaRPr lang="en-US" sz="1700"/>
          </a:p>
        </p:txBody>
      </p:sp>
      <p:sp>
        <p:nvSpPr>
          <p:cNvPr id="14" name="Text 12"/>
          <p:cNvSpPr txBox="1"/>
          <p:nvPr/>
        </p:nvSpPr>
        <p:spPr bwMode="auto">
          <a:xfrm>
            <a:off x="3529584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15" name="Text 13"/>
          <p:cNvSpPr txBox="1"/>
          <p:nvPr/>
        </p:nvSpPr>
        <p:spPr bwMode="auto">
          <a:xfrm>
            <a:off x="3529584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Golang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SQL и базы данных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RESTful API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Сетевые протоколы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 bwMode="auto">
          <a:xfrm>
            <a:off x="6153912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 bwMode="auto">
          <a:xfrm>
            <a:off x="6355080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Frontend-разработчик, грейд «Джуниор»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 bwMode="auto">
          <a:xfrm>
            <a:off x="6355080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Статистика вакансий hh.ru</a:t>
            </a:r>
            <a:endParaRPr lang="en-US" sz="1050"/>
          </a:p>
        </p:txBody>
      </p:sp>
      <p:sp>
        <p:nvSpPr>
          <p:cNvPr id="19" name="Text 17"/>
          <p:cNvSpPr txBox="1"/>
          <p:nvPr/>
        </p:nvSpPr>
        <p:spPr bwMode="auto">
          <a:xfrm>
            <a:off x="6355080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79 500 – 105 000 ₽</a:t>
            </a:r>
            <a:endParaRPr lang="en-US" sz="1700"/>
          </a:p>
        </p:txBody>
      </p:sp>
      <p:sp>
        <p:nvSpPr>
          <p:cNvPr id="20" name="Text 18"/>
          <p:cNvSpPr txBox="1"/>
          <p:nvPr/>
        </p:nvSpPr>
        <p:spPr bwMode="auto">
          <a:xfrm>
            <a:off x="6355080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21" name="Text 19"/>
          <p:cNvSpPr txBox="1"/>
          <p:nvPr/>
        </p:nvSpPr>
        <p:spPr bwMode="auto">
          <a:xfrm>
            <a:off x="6355080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HTML, CSS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JavaScript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React, Vue или Angular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Работа по инструкции наставника</a:t>
            </a:r>
            <a:endParaRPr lang="en-US" sz="1050"/>
          </a:p>
        </p:txBody>
      </p:sp>
      <p:sp>
        <p:nvSpPr>
          <p:cNvPr id="22" name="Text 20"/>
          <p:cNvSpPr txBox="1"/>
          <p:nvPr/>
        </p:nvSpPr>
        <p:spPr bwMode="auto">
          <a:xfrm>
            <a:off x="50292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Вывод: от джуна ждут связку «язык + база данных + Git + один фреймворк» и выложенные в интернет проекты.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 bwMode="auto"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Источники: hh.ru, career.habr.com. Данные собраны 18.09.2026.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Рынок труда: тестировщик (Junior)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8 / 10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 bwMode="auto">
          <a:xfrm>
            <a:off x="502920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 bwMode="auto">
          <a:xfrm>
            <a:off x="704088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Automation QA (Java)</a:t>
            </a:r>
            <a:endParaRPr lang="en-US" sz="1250"/>
          </a:p>
        </p:txBody>
      </p:sp>
      <p:sp>
        <p:nvSpPr>
          <p:cNvPr id="6" name="Text 4"/>
          <p:cNvSpPr txBox="1"/>
          <p:nvPr/>
        </p:nvSpPr>
        <p:spPr bwMode="auto">
          <a:xfrm>
            <a:off x="704088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ITK academy · Казань, удалённо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 bwMode="auto">
          <a:xfrm>
            <a:off x="704088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до 120 000 ₽</a:t>
            </a:r>
            <a:endParaRPr lang="en-US" sz="1700"/>
          </a:p>
        </p:txBody>
      </p:sp>
      <p:sp>
        <p:nvSpPr>
          <p:cNvPr id="8" name="Text 6"/>
          <p:cNvSpPr txBox="1"/>
          <p:nvPr/>
        </p:nvSpPr>
        <p:spPr bwMode="auto">
          <a:xfrm>
            <a:off x="704088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9" name="Text 7"/>
          <p:cNvSpPr txBox="1"/>
          <p:nvPr/>
        </p:nvSpPr>
        <p:spPr bwMode="auto">
          <a:xfrm>
            <a:off x="704088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Java, Spring Boot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Selenium, TestNG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SQL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CI/CD, Git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 bwMode="auto">
          <a:xfrm>
            <a:off x="3328416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 bwMode="auto">
          <a:xfrm>
            <a:off x="3529584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AQA Тестировщик (Python)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 bwMode="auto">
          <a:xfrm>
            <a:off x="3529584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ITK academy · удалённо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 bwMode="auto">
          <a:xfrm>
            <a:off x="3529584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75 000 – 90 000 ₽</a:t>
            </a:r>
            <a:endParaRPr lang="en-US" sz="1700"/>
          </a:p>
        </p:txBody>
      </p:sp>
      <p:sp>
        <p:nvSpPr>
          <p:cNvPr id="14" name="Text 12"/>
          <p:cNvSpPr txBox="1"/>
          <p:nvPr/>
        </p:nvSpPr>
        <p:spPr bwMode="auto">
          <a:xfrm>
            <a:off x="3529584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15" name="Text 13"/>
          <p:cNvSpPr txBox="1"/>
          <p:nvPr/>
        </p:nvSpPr>
        <p:spPr bwMode="auto">
          <a:xfrm>
            <a:off x="3529584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Python, ООП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SQL, базы данных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REST, HTTP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Автотесты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 bwMode="auto">
          <a:xfrm>
            <a:off x="6153912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 bwMode="auto">
          <a:xfrm>
            <a:off x="6355080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QA инженер (Java / Kotlin)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 bwMode="auto">
          <a:xfrm>
            <a:off x="6355080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Action tech · удалённо</a:t>
            </a:r>
            <a:endParaRPr lang="en-US" sz="1050"/>
          </a:p>
        </p:txBody>
      </p:sp>
      <p:sp>
        <p:nvSpPr>
          <p:cNvPr id="19" name="Text 17"/>
          <p:cNvSpPr txBox="1"/>
          <p:nvPr/>
        </p:nvSpPr>
        <p:spPr bwMode="auto">
          <a:xfrm>
            <a:off x="6355080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вилка не указана</a:t>
            </a:r>
            <a:endParaRPr lang="en-US" sz="1700"/>
          </a:p>
        </p:txBody>
      </p:sp>
      <p:sp>
        <p:nvSpPr>
          <p:cNvPr id="20" name="Text 18"/>
          <p:cNvSpPr txBox="1"/>
          <p:nvPr/>
        </p:nvSpPr>
        <p:spPr bwMode="auto">
          <a:xfrm>
            <a:off x="6355080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21" name="Text 19"/>
          <p:cNvSpPr txBox="1"/>
          <p:nvPr/>
        </p:nvSpPr>
        <p:spPr bwMode="auto">
          <a:xfrm>
            <a:off x="6355080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Функциональное тестирование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Автоматизация, Selenium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SQL, PostgreSQL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Kotlin или Java</a:t>
            </a:r>
            <a:endParaRPr lang="en-US" sz="1050"/>
          </a:p>
        </p:txBody>
      </p:sp>
      <p:sp>
        <p:nvSpPr>
          <p:cNvPr id="22" name="Text 20"/>
          <p:cNvSpPr txBox="1"/>
          <p:nvPr/>
        </p:nvSpPr>
        <p:spPr bwMode="auto">
          <a:xfrm>
            <a:off x="50292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Вывод: ручное тестирование — это вход, но зарплату поднимает автоматизация: SQL, работа с API и язык программирования.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 bwMode="auto"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Источники: hh.ru, career.habr.com. Данные собраны 18.09.2026.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Рынок труда: менеджер проекта и SMM</a:t>
            </a:r>
            <a:endParaRPr lang="en-US" sz="28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20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9 / 10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 bwMode="auto">
          <a:xfrm>
            <a:off x="502920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 bwMode="auto">
          <a:xfrm>
            <a:off x="704088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Junior IT Project Manager / менеджер веб-проектов</a:t>
            </a:r>
            <a:endParaRPr lang="en-US" sz="1250"/>
          </a:p>
        </p:txBody>
      </p:sp>
      <p:sp>
        <p:nvSpPr>
          <p:cNvPr id="6" name="Text 4"/>
          <p:cNvSpPr txBox="1"/>
          <p:nvPr/>
        </p:nvSpPr>
        <p:spPr bwMode="auto">
          <a:xfrm>
            <a:off x="704088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hh.ru · без опыта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 bwMode="auto">
          <a:xfrm>
            <a:off x="704088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от 70 000 ₽</a:t>
            </a:r>
            <a:endParaRPr lang="en-US" sz="1700"/>
          </a:p>
        </p:txBody>
      </p:sp>
      <p:sp>
        <p:nvSpPr>
          <p:cNvPr id="8" name="Text 6"/>
          <p:cNvSpPr txBox="1"/>
          <p:nvPr/>
        </p:nvSpPr>
        <p:spPr bwMode="auto">
          <a:xfrm>
            <a:off x="704088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9" name="Text 7"/>
          <p:cNvSpPr txBox="1"/>
          <p:nvPr/>
        </p:nvSpPr>
        <p:spPr bwMode="auto">
          <a:xfrm>
            <a:off x="704088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Ведение задач и сроков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Общение с клиентом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Отчётность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Опыт не требуется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 bwMode="auto">
          <a:xfrm>
            <a:off x="3328416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 bwMode="auto">
          <a:xfrm>
            <a:off x="3529584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SMM-специалист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 bwMode="auto">
          <a:xfrm>
            <a:off x="3529584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План-abc · Тюмень · без опыта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 bwMode="auto">
          <a:xfrm>
            <a:off x="3529584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от 35 000 ₽</a:t>
            </a:r>
            <a:endParaRPr lang="en-US" sz="1700"/>
          </a:p>
        </p:txBody>
      </p:sp>
      <p:sp>
        <p:nvSpPr>
          <p:cNvPr id="14" name="Text 12"/>
          <p:cNvSpPr txBox="1"/>
          <p:nvPr/>
        </p:nvSpPr>
        <p:spPr bwMode="auto">
          <a:xfrm>
            <a:off x="3529584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15" name="Text 13"/>
          <p:cNvSpPr txBox="1"/>
          <p:nvPr/>
        </p:nvSpPr>
        <p:spPr bwMode="auto">
          <a:xfrm>
            <a:off x="3529584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Ведение соцсетей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Подготовка контента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Работа с комментариями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Опыт не требуется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 bwMode="auto">
          <a:xfrm>
            <a:off x="6153912" y="1051560"/>
            <a:ext cx="2679192" cy="3017519"/>
          </a:xfrm>
          <a:prstGeom prst="roundRect">
            <a:avLst>
              <a:gd name="adj" fmla="val 20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 bwMode="auto">
          <a:xfrm>
            <a:off x="6355080" y="1216151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6233A"/>
                </a:solidFill>
                <a:latin typeface="Arial"/>
                <a:ea typeface="Arial"/>
                <a:cs typeface="Arial"/>
              </a:rPr>
              <a:t>SMM-специалист / администратор видеостудии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 bwMode="auto">
          <a:xfrm>
            <a:off x="6355080" y="1801367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ООО «Ермак» · Тюмень</a:t>
            </a:r>
            <a:endParaRPr lang="en-US" sz="1050"/>
          </a:p>
        </p:txBody>
      </p:sp>
      <p:sp>
        <p:nvSpPr>
          <p:cNvPr id="19" name="Text 17"/>
          <p:cNvSpPr txBox="1"/>
          <p:nvPr/>
        </p:nvSpPr>
        <p:spPr bwMode="auto">
          <a:xfrm>
            <a:off x="6355080" y="2093976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730E"/>
                </a:solidFill>
                <a:latin typeface="Arial"/>
                <a:ea typeface="Arial"/>
                <a:cs typeface="Arial"/>
              </a:rPr>
              <a:t>60 000 – 100 000 ₽</a:t>
            </a:r>
            <a:endParaRPr lang="en-US" sz="1700"/>
          </a:p>
        </p:txBody>
      </p:sp>
      <p:sp>
        <p:nvSpPr>
          <p:cNvPr id="20" name="Text 18"/>
          <p:cNvSpPr txBox="1"/>
          <p:nvPr/>
        </p:nvSpPr>
        <p:spPr bwMode="auto">
          <a:xfrm>
            <a:off x="6355080" y="253288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Требования</a:t>
            </a:r>
            <a:endParaRPr lang="en-US" sz="1050"/>
          </a:p>
        </p:txBody>
      </p:sp>
      <p:sp>
        <p:nvSpPr>
          <p:cNvPr id="21" name="Text 19"/>
          <p:cNvSpPr txBox="1"/>
          <p:nvPr/>
        </p:nvSpPr>
        <p:spPr bwMode="auto">
          <a:xfrm>
            <a:off x="6355080" y="278892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Соцсети и контент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Съёмка и монтаж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Администрирование студии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Опыт 1–3 года</a:t>
            </a:r>
            <a:endParaRPr lang="en-US" sz="1050"/>
          </a:p>
        </p:txBody>
      </p:sp>
      <p:sp>
        <p:nvSpPr>
          <p:cNvPr id="22" name="Text 20"/>
          <p:cNvSpPr txBox="1"/>
          <p:nvPr/>
        </p:nvSpPr>
        <p:spPr bwMode="auto">
          <a:xfrm>
            <a:off x="50292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6233A"/>
                </a:solidFill>
                <a:latin typeface="Calibri"/>
                <a:ea typeface="Calibri"/>
                <a:cs typeface="Calibri"/>
              </a:rPr>
              <a:t>Вывод: порог входа ниже, чем в разработке, но и стартовые зарплаты меньше; берут без опыта, если есть портфолио.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 bwMode="auto"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A6779"/>
                </a:solidFill>
                <a:latin typeface="Calibri"/>
                <a:ea typeface="Calibri"/>
                <a:cs typeface="Calibri"/>
              </a:rPr>
              <a:t>Источники: hh.ru, career.habr.com. Данные собраны 18.09.2026.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1623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 bwMode="auto">
          <a:xfrm>
            <a:off x="5029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Выводы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 bwMode="auto">
          <a:xfrm>
            <a:off x="7543800" y="365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9AA7BC"/>
                </a:solidFill>
                <a:latin typeface="Calibri"/>
                <a:ea typeface="Calibri"/>
                <a:cs typeface="Calibri"/>
              </a:rPr>
              <a:t>10 / 10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 bwMode="auto">
          <a:xfrm>
            <a:off x="502920" y="109728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 bwMode="auto">
          <a:xfrm>
            <a:off x="630936" y="12344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75 000 – 125 000 ₽</a:t>
            </a:r>
            <a:endParaRPr lang="en-US" sz="1350"/>
          </a:p>
        </p:txBody>
      </p:sp>
      <p:sp>
        <p:nvSpPr>
          <p:cNvPr id="6" name="Text 4"/>
          <p:cNvSpPr txBox="1"/>
          <p:nvPr/>
        </p:nvSpPr>
        <p:spPr bwMode="auto">
          <a:xfrm>
            <a:off x="630936" y="17647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CEDD"/>
                </a:solidFill>
                <a:latin typeface="Calibri"/>
                <a:ea typeface="Calibri"/>
                <a:cs typeface="Calibri"/>
              </a:rPr>
              <a:t>разработчик, старт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 bwMode="auto">
          <a:xfrm>
            <a:off x="2606040" y="109728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 bwMode="auto">
          <a:xfrm>
            <a:off x="2734056" y="12344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75 000 – 120 000 ₽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 bwMode="auto">
          <a:xfrm>
            <a:off x="2734056" y="17647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CEDD"/>
                </a:solidFill>
                <a:latin typeface="Calibri"/>
                <a:ea typeface="Calibri"/>
                <a:cs typeface="Calibri"/>
              </a:rPr>
              <a:t>тестировщик, старт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 bwMode="auto">
          <a:xfrm>
            <a:off x="4709160" y="109728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 bwMode="auto">
          <a:xfrm>
            <a:off x="4837176" y="12344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от 70 000 ₽</a:t>
            </a:r>
            <a:endParaRPr lang="en-US" sz="1350"/>
          </a:p>
        </p:txBody>
      </p:sp>
      <p:sp>
        <p:nvSpPr>
          <p:cNvPr id="12" name="Text 10"/>
          <p:cNvSpPr txBox="1"/>
          <p:nvPr/>
        </p:nvSpPr>
        <p:spPr bwMode="auto">
          <a:xfrm>
            <a:off x="4837176" y="17647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CEDD"/>
                </a:solidFill>
                <a:latin typeface="Calibri"/>
                <a:ea typeface="Calibri"/>
                <a:cs typeface="Calibri"/>
              </a:rPr>
              <a:t>менеджер проекта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 bwMode="auto">
          <a:xfrm>
            <a:off x="6812280" y="109728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27385C"/>
          </a:solidFill>
          <a:ln w="12700">
            <a:solidFill>
              <a:srgbClr val="2738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 bwMode="auto">
          <a:xfrm>
            <a:off x="6940296" y="123444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35 000 – 100 000 ₽</a:t>
            </a:r>
            <a:endParaRPr lang="en-US" sz="1350"/>
          </a:p>
        </p:txBody>
      </p:sp>
      <p:sp>
        <p:nvSpPr>
          <p:cNvPr id="15" name="Text 13"/>
          <p:cNvSpPr txBox="1"/>
          <p:nvPr/>
        </p:nvSpPr>
        <p:spPr bwMode="auto">
          <a:xfrm>
            <a:off x="6940296" y="17647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CEDD"/>
                </a:solidFill>
                <a:latin typeface="Calibri"/>
                <a:ea typeface="Calibri"/>
                <a:cs typeface="Calibri"/>
              </a:rPr>
              <a:t>дизайн и SMM, Тюмень</a:t>
            </a:r>
            <a:endParaRPr lang="en-US" sz="1050"/>
          </a:p>
        </p:txBody>
      </p:sp>
      <p:sp>
        <p:nvSpPr>
          <p:cNvPr id="16" name="Text 14"/>
          <p:cNvSpPr txBox="1"/>
          <p:nvPr/>
        </p:nvSpPr>
        <p:spPr bwMode="auto">
          <a:xfrm>
            <a:off x="502920" y="26060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Роли настоящие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 bwMode="auto">
          <a:xfrm>
            <a:off x="502920" y="29443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Наши четыре роли совпадают с позициями, на которые в IT берут без коммерческого опыта.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 bwMode="auto">
          <a:xfrm>
            <a:off x="3337560" y="26060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Чего не хватает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 bwMode="auto">
          <a:xfrm>
            <a:off x="3337560" y="29443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Почти во всех вакансиях, кроме дизайна, просят SQL и Git — это добираем в течение семестра.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 bwMode="auto">
          <a:xfrm>
            <a:off x="6172200" y="26060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5C79A"/>
                </a:solidFill>
                <a:latin typeface="Arial"/>
                <a:ea typeface="Arial"/>
                <a:cs typeface="Arial"/>
              </a:rPr>
              <a:t>Что забираем из проекта</a:t>
            </a:r>
            <a:endParaRPr lang="en-US" sz="1400"/>
          </a:p>
        </p:txBody>
      </p:sp>
      <p:sp>
        <p:nvSpPr>
          <p:cNvPr id="21" name="Text 19"/>
          <p:cNvSpPr txBox="1"/>
          <p:nvPr/>
        </p:nvSpPr>
        <p:spPr bwMode="auto">
          <a:xfrm>
            <a:off x="6172200" y="29443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Каждый выносит результат для портфолио: код, макеты, план работ, тестовую документацию.</a:t>
            </a:r>
            <a:endParaRPr lang="en-US" sz="1200"/>
          </a:p>
        </p:txBody>
      </p:sp>
      <p:sp>
        <p:nvSpPr>
          <p:cNvPr id="22" name="Text 20"/>
          <p:cNvSpPr txBox="1"/>
          <p:nvPr/>
        </p:nvSpPr>
        <p:spPr bwMode="auto"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AA7BC"/>
                </a:solidFill>
                <a:latin typeface="Calibri"/>
                <a:ea typeface="Calibri"/>
                <a:cs typeface="Calibri"/>
              </a:rPr>
              <a:t>Команда GTA · ТюмГУ,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Р7-Офис/2026.2.2.2683</Application>
  <DocSecurity>0</DocSecurity>
  <PresentationFormat>On-screen Show (16:9)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GTA — презентация</dc:title>
  <dc:subject>PptxGenJS Presentation</dc:subject>
  <dc:creator>Команда GTA</dc:creator>
  <cp:keywords/>
  <dc:description/>
  <dc:identifier/>
  <dc:language/>
  <cp:lastModifiedBy>gadzi</cp:lastModifiedBy>
  <cp:revision>2</cp:revision>
  <dcterms:created xsi:type="dcterms:W3CDTF">2026-09-18T13:16:28Z</dcterms:created>
  <dcterms:modified xsi:type="dcterms:W3CDTF">2026-09-18T13:31:18Z</dcterms:modified>
  <cp:category/>
  <cp:contentStatus/>
  <cp:version/>
</cp:coreProperties>
</file>